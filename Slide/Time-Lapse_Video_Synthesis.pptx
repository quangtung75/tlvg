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2" r:id="rId4"/>
    <p:sldId id="267" r:id="rId5"/>
    <p:sldId id="268" r:id="rId6"/>
    <p:sldId id="258" r:id="rId7"/>
    <p:sldId id="259" r:id="rId8"/>
    <p:sldId id="266" r:id="rId9"/>
    <p:sldId id="283" r:id="rId10"/>
    <p:sldId id="260" r:id="rId11"/>
    <p:sldId id="280" r:id="rId12"/>
    <p:sldId id="279" r:id="rId13"/>
    <p:sldId id="292" r:id="rId14"/>
    <p:sldId id="288" r:id="rId15"/>
    <p:sldId id="275" r:id="rId16"/>
    <p:sldId id="289" r:id="rId17"/>
    <p:sldId id="269" r:id="rId18"/>
    <p:sldId id="271" r:id="rId19"/>
    <p:sldId id="291" r:id="rId20"/>
    <p:sldId id="270" r:id="rId21"/>
    <p:sldId id="272" r:id="rId22"/>
    <p:sldId id="26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A8A7"/>
    <a:srgbClr val="FE5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53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15CFA-3B4B-37D4-5E80-1E4C705B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95626-D6C7-61D7-5F5D-766C9C099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28842-6CCC-1508-DFA1-D021AC1AB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7440E-5A4A-640A-B26F-8F6B30431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58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2AADE-2B3E-821F-933E-74C35320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C9C99-B408-818C-4461-B4FB6E4FF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442DF-6E1B-5DAD-4416-17FA76FE4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CF763-069F-1323-DFE1-87B834066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35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BE3-3D7C-9989-D21B-99C6D811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7996E-966D-9D53-DD87-B00EEE306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335CF-32FC-7A47-E52D-77504DE9F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3B8BB-38BB-D2F6-03D3-B255593F8A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89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DBD8-02DE-859D-B719-EC140BA0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DA6C5-7172-F094-021A-84E599849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1901D-6B49-B57B-78B8-2D6D99D5B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16FF5-FB73-598D-E1A8-BAE9110EEB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42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CD0E-047F-D0EF-B630-4816C615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FCBB4-2031-C045-D969-07F38C352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47FC3-A859-343F-CE3E-90DCBA4D3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B8ED9-84C7-7E9A-BD3A-E9D17A08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48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8A89-8C9F-E7DC-60B1-0A737B66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DB7D6-6478-76B0-0581-C319F8577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80D70-9B95-8F45-044A-35DA5E92E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B77B7-2103-C79D-F93E-8A30BD90A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60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A272-A6E3-0BD2-FBC4-D6B88B5C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EEA70-C958-6F03-701C-CD5C8C1DB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E84A8-E9C4-6163-C793-892D50972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6BD49-2BF2-B81E-532D-B43E045BB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60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24B6-3487-1D88-E1E1-6DE15DF0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2B2FE-91EA-2B5F-EC71-33660FA61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AACB7-4C37-B389-1AFD-B861B1C17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E19A0-4F7D-F8DC-9ED2-405883897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61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3AB4-283D-1CD5-50FB-F7EA14E9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6648E-954A-F115-8082-C26CF5753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7DAFD-1389-7983-4FDA-A8016B910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BDA43-7821-DA73-F9E8-FF1971553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882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6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4BEE-0C5C-C768-0BC7-AB899359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2C06C-555D-CFFF-984D-9CB40A379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05E547-3F74-2E42-27B9-C927D696E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6BED9-6DCA-6411-3615-0D0E42D5E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89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B240-3020-0943-750A-A543B51C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AF623-3CEB-CB54-5646-1B2E42F31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6A8FF-9C06-5E89-B83E-B99375C61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BF320-C442-378B-F3AC-C3C4D7BC3E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41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AA2A-B6A4-237B-9B9E-B102A14F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412C0-42C9-7EEE-DD0A-36BB03FE8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FB6CC-B216-0B59-16B0-5D54101F0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3863B-7481-189A-18C8-6D90A1FEF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614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9B65-8517-75AB-515A-6AB3A1752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71259-8D32-6416-F197-FF7EBC7A1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74C12-5E98-A90E-F972-33C71B6EC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E4FF7-771D-C0AF-002B-9608BFAFF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85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A0F0-8E29-B8AA-01BE-EF491FA7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71E1A-D2D2-B769-65E3-9EB03B93E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8D6C2-3083-CD82-2FA4-DAEDAC44F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A9C28-D7D1-BEB8-358D-629B321AD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07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BBBF-003D-1590-2D0E-F261840C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69CEF-F700-7B7A-A40E-8EDA6E9D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C79AF-CD5B-C9EE-DECF-D83627DC1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0B299-5E52-C61C-8E85-94DA3A433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95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3045"/>
            <a:ext cx="1143000" cy="571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08795"/>
            <a:ext cx="5226939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Time-Lapse Video Synthesis from a Single Outdoor Image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11736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vi-VN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Quang Tung, </a:t>
            </a:r>
            <a:r>
              <a:rPr lang="vi-VN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Nguyen</a:t>
            </a:r>
            <a:r>
              <a:rPr lang="vi-VN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</a:t>
            </a:r>
            <a:r>
              <a:rPr lang="vi-VN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Khoa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07036"/>
            <a:ext cx="83941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vi-VN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</a:t>
            </a:r>
            <a:r>
              <a:rPr lang="vi-VN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19200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01701"/>
            <a:ext cx="82296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Time-lapse videos are visually appealing but difficult and costly to create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sophisticated hardware setup and time-consuming capture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806601"/>
            <a:ext cx="8229600" cy="876300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2806601"/>
            <a:ext cx="0" cy="87630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3900" y="3004840"/>
            <a:ext cx="788898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Synthesize time-lapse videos from a single outdoor image using deep neural networks</a:t>
            </a:r>
            <a:r>
              <a:rPr lang="vi-VN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(GAN)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EE375-DB1D-0D3A-3D74-5147F1BF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7735E2-C0F0-EA14-4A50-BA7604A8AAAE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C51286-AD4B-33CD-3AF0-DA8207F0CDC1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20A89C-A66A-6EF2-5D05-08B464D67FD1}"/>
              </a:ext>
            </a:extLst>
          </p:cNvPr>
          <p:cNvSpPr/>
          <p:nvPr/>
        </p:nvSpPr>
        <p:spPr>
          <a:xfrm>
            <a:off x="457200" y="1219200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800"/>
              </a:spcAft>
              <a:buNone/>
            </a:pPr>
            <a:r>
              <a:rPr lang="vi-VN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</a:t>
            </a: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B25506-618D-0213-E8CE-AD1FC46EBE38}"/>
              </a:ext>
            </a:extLst>
          </p:cNvPr>
          <p:cNvSpPr/>
          <p:nvPr/>
        </p:nvSpPr>
        <p:spPr>
          <a:xfrm>
            <a:off x="457200" y="1701701"/>
            <a:ext cx="82296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>
              <a:lnSpc>
                <a:spcPts val="2100"/>
              </a:lnSpc>
              <a:buSzPct val="100000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generative adversarial network (GAN) has two parts:</a:t>
            </a:r>
            <a:endParaRPr lang="vi-VN" sz="135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generator learns to generate plausible data</a:t>
            </a:r>
            <a:endParaRPr lang="vi-VN" sz="135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discriminator learns to distinguish the generator's fake data from real data</a:t>
            </a:r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3F652C-CD68-5E2E-DEDC-6C69B7338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79737"/>
            <a:ext cx="3774332" cy="7671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09DD27-213F-E286-DF43-C0F345F07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51" y="3548643"/>
            <a:ext cx="3676662" cy="5283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DB43D8-3DD8-FAC0-206B-059014EDF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25394"/>
            <a:ext cx="3774332" cy="59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9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A188D-48E3-ACD4-20C9-9602CF7E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2403C9-72EF-7CFB-FF5F-24AA1C988BE6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22C5D7-B8ED-9F53-BA04-36A6789704B5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</a:t>
            </a:r>
            <a:r>
              <a:rPr lang="vi-VN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F9CE77-33C6-FF80-8BA0-BAE8AD8C998F}"/>
              </a:ext>
            </a:extLst>
          </p:cNvPr>
          <p:cNvSpPr/>
          <p:nvPr/>
        </p:nvSpPr>
        <p:spPr>
          <a:xfrm>
            <a:off x="457200" y="1708249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800"/>
              </a:spcAft>
              <a:buNone/>
            </a:pP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r>
              <a:rPr lang="vi-VN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r>
              <a:rPr lang="vi-VN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Stylization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258702-CAA0-CAF3-5321-342C127627AC}"/>
              </a:ext>
            </a:extLst>
          </p:cNvPr>
          <p:cNvSpPr/>
          <p:nvPr/>
        </p:nvSpPr>
        <p:spPr>
          <a:xfrm>
            <a:off x="457200" y="2190749"/>
            <a:ext cx="8229600" cy="125104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on transferring an image from a source domain to a target domain (e.g., day to night, sketch to photo) while preserving the content. </a:t>
            </a:r>
            <a:endParaRPr lang="vi-VN" sz="135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vi-VN" sz="1350" dirty="0" err="1"/>
              <a:t>Our</a:t>
            </a:r>
            <a:r>
              <a:rPr lang="vi-VN" sz="1350" dirty="0"/>
              <a:t> </a:t>
            </a:r>
            <a:r>
              <a:rPr lang="vi-VN" sz="1350" dirty="0" err="1"/>
              <a:t>approach</a:t>
            </a:r>
            <a:r>
              <a:rPr lang="vi-VN" sz="1350" dirty="0"/>
              <a:t>: 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Instead of a discrete domain transfer, our method creates a continuous change in illumination. </a:t>
            </a:r>
          </a:p>
        </p:txBody>
      </p:sp>
    </p:spTree>
    <p:extLst>
      <p:ext uri="{BB962C8B-B14F-4D97-AF65-F5344CB8AC3E}">
        <p14:creationId xmlns:p14="http://schemas.microsoft.com/office/powerpoint/2010/main" val="145148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36D81-A4E8-701D-1D58-35933F00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78BD3A-7319-4170-808D-D9B35DEBD285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75E1E5-52DE-FF94-FB5D-299DC8757394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</a:t>
            </a:r>
            <a:r>
              <a:rPr lang="vi-VN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D81E1AE-F64A-17F2-627D-109F441F6B44}"/>
              </a:ext>
            </a:extLst>
          </p:cNvPr>
          <p:cNvSpPr/>
          <p:nvPr/>
        </p:nvSpPr>
        <p:spPr>
          <a:xfrm>
            <a:off x="457200" y="1708249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800"/>
              </a:spcAft>
              <a:buNone/>
            </a:pP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</a:t>
            </a:r>
            <a:r>
              <a:rPr lang="vi-VN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</a:t>
            </a:r>
            <a:r>
              <a:rPr lang="vi-VN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7ABDF1-8BC8-FBCA-111B-CE54B2795CDA}"/>
              </a:ext>
            </a:extLst>
          </p:cNvPr>
          <p:cNvSpPr/>
          <p:nvPr/>
        </p:nvSpPr>
        <p:spPr>
          <a:xfrm>
            <a:off x="457200" y="2190749"/>
            <a:ext cx="8229600" cy="191452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related method is a data-driven approach that creates time-lapses by finding a reference video in a large database to guide the color transfer. </a:t>
            </a:r>
            <a:endParaRPr lang="vi-VN" sz="135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vi-VN" sz="1350" dirty="0" err="1"/>
              <a:t>Limitation</a:t>
            </a:r>
            <a:r>
              <a:rPr lang="vi-VN" sz="1350" dirty="0"/>
              <a:t>: 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This requires storing an entire video database at runtime and may fail if no semantically similar reference video can be found.</a:t>
            </a:r>
            <a:endParaRPr lang="vi-VN" sz="13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vi-VN" sz="1350" dirty="0" err="1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vi-VN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350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vi-VN" sz="135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Only requires storing a compact model and needs no reference video at runtime, making our approach more robust and efficient</a:t>
            </a:r>
            <a:r>
              <a:rPr lang="vi-VN" sz="1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71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9376" y="1124024"/>
            <a:ext cx="4120135" cy="3790876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8425" y="1124024"/>
            <a:ext cx="4101085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876" y="1276424"/>
            <a:ext cx="80444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AMOS (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of Many Outdoor Scenes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9877" y="1592535"/>
            <a:ext cx="3784474" cy="175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vi-VN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r>
              <a:rPr lang="vi-VN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r>
              <a:rPr lang="vi-VN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webcam</a:t>
            </a:r>
            <a:r>
              <a:rPr lang="vi-VN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vi-VN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has</a:t>
            </a:r>
            <a:r>
              <a:rPr lang="vi-VN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vi-VN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r>
              <a:rPr lang="vi-VN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46688" y="1112565"/>
            <a:ext cx="4047936" cy="3802335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65737" y="1112565"/>
            <a:ext cx="4009837" cy="11459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188" y="1264965"/>
            <a:ext cx="39242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TLVDB (</a:t>
            </a: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Time-Lapse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37188" y="1527795"/>
            <a:ext cx="3666935" cy="1043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600"/>
              </a:spcBef>
              <a:buNone/>
            </a:pPr>
            <a:r>
              <a:rPr lang="vi-VN" sz="1050" dirty="0" err="1"/>
              <a:t>Real</a:t>
            </a:r>
            <a:r>
              <a:rPr lang="vi-VN" sz="1050" dirty="0"/>
              <a:t> </a:t>
            </a:r>
            <a:r>
              <a:rPr lang="vi-VN" sz="1050" dirty="0" err="1"/>
              <a:t>time-lapse</a:t>
            </a:r>
            <a:r>
              <a:rPr lang="vi-VN" sz="1050" dirty="0"/>
              <a:t> </a:t>
            </a:r>
            <a:r>
              <a:rPr lang="vi-VN" sz="1050" dirty="0" err="1"/>
              <a:t>videos</a:t>
            </a:r>
            <a:r>
              <a:rPr lang="vi-VN" sz="1050" dirty="0"/>
              <a:t>, do </a:t>
            </a:r>
            <a:r>
              <a:rPr lang="vi-VN" sz="1050" dirty="0" err="1"/>
              <a:t>not</a:t>
            </a:r>
            <a:r>
              <a:rPr lang="vi-VN" sz="1050" dirty="0"/>
              <a:t> </a:t>
            </a:r>
            <a:r>
              <a:rPr lang="vi-VN" sz="1050" dirty="0" err="1"/>
              <a:t>have</a:t>
            </a:r>
            <a:r>
              <a:rPr lang="vi-VN" sz="1050" dirty="0"/>
              <a:t> </a:t>
            </a:r>
            <a:r>
              <a:rPr lang="vi-VN" sz="1050" dirty="0" err="1"/>
              <a:t>timestamp</a:t>
            </a:r>
            <a:r>
              <a:rPr lang="vi-VN" sz="1050" dirty="0"/>
              <a:t> </a:t>
            </a:r>
            <a:r>
              <a:rPr lang="vi-VN" sz="1050" dirty="0" err="1"/>
              <a:t>for</a:t>
            </a:r>
            <a:r>
              <a:rPr lang="vi-VN" sz="1050" dirty="0"/>
              <a:t> </a:t>
            </a:r>
            <a:r>
              <a:rPr lang="vi-VN" sz="1050" dirty="0" err="1"/>
              <a:t>each</a:t>
            </a:r>
            <a:r>
              <a:rPr lang="vi-VN" sz="1050" dirty="0"/>
              <a:t> </a:t>
            </a:r>
            <a:r>
              <a:rPr lang="vi-VN" sz="1050" dirty="0" err="1"/>
              <a:t>fram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vi-VN" sz="1050" dirty="0"/>
              <a:t>s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F1A6F3-0EDF-725B-2C48-92436DA9C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6" y="2160168"/>
            <a:ext cx="3321873" cy="252663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DA49053-295B-1193-9130-E8FBD6F5166C}"/>
              </a:ext>
            </a:extLst>
          </p:cNvPr>
          <p:cNvGrpSpPr/>
          <p:nvPr/>
        </p:nvGrpSpPr>
        <p:grpSpPr>
          <a:xfrm>
            <a:off x="5298993" y="2160168"/>
            <a:ext cx="2943324" cy="2490918"/>
            <a:chOff x="4937188" y="2160168"/>
            <a:chExt cx="2943324" cy="249091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B861984-8899-CA65-89B7-E47833D25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7188" y="2160168"/>
              <a:ext cx="1492187" cy="124545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A049C47-3626-6EA0-8192-F49163426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29953" y="2160168"/>
              <a:ext cx="1450558" cy="124545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A734A21-5507-54BF-A4C3-6AB3CADD9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7189" y="3405627"/>
              <a:ext cx="1492764" cy="124545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4DA5461-35DB-8E6E-282E-AFAC0D985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824"/>
            <a:stretch>
              <a:fillRect/>
            </a:stretch>
          </p:blipFill>
          <p:spPr>
            <a:xfrm>
              <a:off x="6429954" y="3405627"/>
              <a:ext cx="1450558" cy="1245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19200"/>
            <a:ext cx="4381691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Image-to-Image Translation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01701"/>
            <a:ext cx="8229600" cy="1213247"/>
          </a:xfrm>
          <a:prstGeom prst="rect">
            <a:avLst/>
          </a:prstGeom>
          <a:solidFill>
            <a:srgbClr val="F0F9FF"/>
          </a:solidFill>
          <a:ln w="19050">
            <a:solidFill>
              <a:srgbClr val="1E3A8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7507" y="1949351"/>
            <a:ext cx="7888986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Ît = G(I, t)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7507" y="2447032"/>
            <a:ext cx="7888986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input image | t: timestamp | Ît: output at time t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45DF8F-C077-9D0C-2630-D3414C95A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62598"/>
            <a:ext cx="2826845" cy="159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5FAE6E-790C-FA64-91AF-D458A08B6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9957" y="3162598"/>
            <a:ext cx="2826845" cy="1590099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90FD77-A42C-BE76-4F1A-71CF32F94F43}"/>
              </a:ext>
            </a:extLst>
          </p:cNvPr>
          <p:cNvCxnSpPr>
            <a:cxnSpLocks/>
          </p:cNvCxnSpPr>
          <p:nvPr/>
        </p:nvCxnSpPr>
        <p:spPr>
          <a:xfrm>
            <a:off x="4041648" y="3957647"/>
            <a:ext cx="990601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620EF-20FA-2E98-1540-0D9A358E5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796120-86A9-7DA3-703E-59726B99201E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CDE39A-79DE-DC29-2C73-5DD2C9CC5FA2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Overview</a:t>
            </a:r>
            <a:endParaRPr lang="en-US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FE10D4-1133-EE26-EED8-59BCDAE87700}"/>
              </a:ext>
            </a:extLst>
          </p:cNvPr>
          <p:cNvSpPr/>
          <p:nvPr/>
        </p:nvSpPr>
        <p:spPr>
          <a:xfrm>
            <a:off x="573798" y="2432566"/>
            <a:ext cx="647700" cy="6477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I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35F9BB-3321-D0FB-734A-1A5101E2C4E6}"/>
              </a:ext>
            </a:extLst>
          </p:cNvPr>
          <p:cNvCxnSpPr>
            <a:cxnSpLocks/>
          </p:cNvCxnSpPr>
          <p:nvPr/>
        </p:nvCxnSpPr>
        <p:spPr>
          <a:xfrm>
            <a:off x="1552793" y="2756416"/>
            <a:ext cx="7980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5C5BFB-D1AE-AE7F-52E6-20823E26FFF2}"/>
              </a:ext>
            </a:extLst>
          </p:cNvPr>
          <p:cNvSpPr txBox="1"/>
          <p:nvPr/>
        </p:nvSpPr>
        <p:spPr>
          <a:xfrm>
            <a:off x="1477634" y="2428874"/>
            <a:ext cx="798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G(I, t)</a:t>
            </a:r>
            <a:endParaRPr lang="en-US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DAF2F0-E882-B084-9E90-3F3F8D9F3FDC}"/>
              </a:ext>
            </a:extLst>
          </p:cNvPr>
          <p:cNvSpPr/>
          <p:nvPr/>
        </p:nvSpPr>
        <p:spPr>
          <a:xfrm>
            <a:off x="2586036" y="1260862"/>
            <a:ext cx="647700" cy="6477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Ĩ</a:t>
            </a:r>
            <a:r>
              <a:rPr lang="vi-VN" baseline="-25000" dirty="0"/>
              <a:t>0</a:t>
            </a:r>
            <a:endParaRPr lang="en-US" baseline="-25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39C8BF-7421-9239-1C45-4E17148FA1F4}"/>
              </a:ext>
            </a:extLst>
          </p:cNvPr>
          <p:cNvSpPr/>
          <p:nvPr/>
        </p:nvSpPr>
        <p:spPr>
          <a:xfrm>
            <a:off x="2586036" y="2061091"/>
            <a:ext cx="647700" cy="6477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Ĩ</a:t>
            </a:r>
            <a:r>
              <a:rPr lang="vi-VN" baseline="-25000" dirty="0"/>
              <a:t>1</a:t>
            </a:r>
            <a:endParaRPr lang="en-US" baseline="-25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3CFE92-75E8-AA23-791F-909CF6EC96FA}"/>
              </a:ext>
            </a:extLst>
          </p:cNvPr>
          <p:cNvSpPr/>
          <p:nvPr/>
        </p:nvSpPr>
        <p:spPr>
          <a:xfrm>
            <a:off x="2586036" y="3804166"/>
            <a:ext cx="647700" cy="6477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Ĩ</a:t>
            </a:r>
            <a:r>
              <a:rPr lang="vi-VN" baseline="-25000" dirty="0" err="1"/>
              <a:t>n</a:t>
            </a:r>
            <a:endParaRPr lang="en-US" baseline="-25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9DE15A7-9945-A8AA-5714-C49A0B97057F}"/>
              </a:ext>
            </a:extLst>
          </p:cNvPr>
          <p:cNvSpPr/>
          <p:nvPr/>
        </p:nvSpPr>
        <p:spPr>
          <a:xfrm>
            <a:off x="2881311" y="2985016"/>
            <a:ext cx="95250" cy="9525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7EFBAFF-8DE6-5ACC-4024-68FBFF7F14BD}"/>
              </a:ext>
            </a:extLst>
          </p:cNvPr>
          <p:cNvSpPr/>
          <p:nvPr/>
        </p:nvSpPr>
        <p:spPr>
          <a:xfrm>
            <a:off x="2881311" y="3208853"/>
            <a:ext cx="95250" cy="9525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DA316DD-6CEE-7FF9-744D-59463DC366B7}"/>
              </a:ext>
            </a:extLst>
          </p:cNvPr>
          <p:cNvSpPr/>
          <p:nvPr/>
        </p:nvSpPr>
        <p:spPr>
          <a:xfrm>
            <a:off x="2881311" y="3432690"/>
            <a:ext cx="95250" cy="9525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8A65C4-1A5F-47EB-E3F2-D6E8FD0D7392}"/>
              </a:ext>
            </a:extLst>
          </p:cNvPr>
          <p:cNvCxnSpPr>
            <a:cxnSpLocks/>
          </p:cNvCxnSpPr>
          <p:nvPr/>
        </p:nvCxnSpPr>
        <p:spPr>
          <a:xfrm>
            <a:off x="3570533" y="2756416"/>
            <a:ext cx="15525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7DD75B-8D00-5184-1DE4-B78DE4832CE0}"/>
              </a:ext>
            </a:extLst>
          </p:cNvPr>
          <p:cNvSpPr txBox="1"/>
          <p:nvPr/>
        </p:nvSpPr>
        <p:spPr>
          <a:xfrm>
            <a:off x="3673446" y="2387084"/>
            <a:ext cx="134674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vi-VN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ggregate</a:t>
            </a:r>
            <a:endParaRPr lang="en-US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1D135C-B0B4-963E-13B5-D5B1EBB2746D}"/>
              </a:ext>
            </a:extLst>
          </p:cNvPr>
          <p:cNvSpPr/>
          <p:nvPr/>
        </p:nvSpPr>
        <p:spPr>
          <a:xfrm>
            <a:off x="5539633" y="2342079"/>
            <a:ext cx="647700" cy="6477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Ĩ</a:t>
            </a:r>
            <a:r>
              <a:rPr lang="vi-VN" baseline="-25000" dirty="0"/>
              <a:t>0</a:t>
            </a:r>
            <a:endParaRPr lang="en-US" baseline="-250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AAEB77-493B-400D-3EAE-CCA887098CFB}"/>
              </a:ext>
            </a:extLst>
          </p:cNvPr>
          <p:cNvSpPr/>
          <p:nvPr/>
        </p:nvSpPr>
        <p:spPr>
          <a:xfrm>
            <a:off x="6187333" y="2342079"/>
            <a:ext cx="647700" cy="6477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Ĩ</a:t>
            </a:r>
            <a:r>
              <a:rPr lang="vi-VN" baseline="-25000" dirty="0"/>
              <a:t>1</a:t>
            </a:r>
            <a:endParaRPr lang="en-US" baseline="-250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B90651D-A0C7-D3E5-B87C-5F4915FFF689}"/>
              </a:ext>
            </a:extLst>
          </p:cNvPr>
          <p:cNvSpPr/>
          <p:nvPr/>
        </p:nvSpPr>
        <p:spPr>
          <a:xfrm>
            <a:off x="7702630" y="2342079"/>
            <a:ext cx="647700" cy="6477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err="1"/>
              <a:t>Ĩ</a:t>
            </a:r>
            <a:r>
              <a:rPr lang="vi-VN" baseline="-25000" dirty="0" err="1"/>
              <a:t>n</a:t>
            </a:r>
            <a:endParaRPr lang="en-US" baseline="-250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0C9431-4E89-7882-BA4C-5B5915E01783}"/>
              </a:ext>
            </a:extLst>
          </p:cNvPr>
          <p:cNvSpPr/>
          <p:nvPr/>
        </p:nvSpPr>
        <p:spPr>
          <a:xfrm>
            <a:off x="7019320" y="2623067"/>
            <a:ext cx="95250" cy="9525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76652E2-F7F3-ED99-D589-3FFF88237E88}"/>
              </a:ext>
            </a:extLst>
          </p:cNvPr>
          <p:cNvSpPr/>
          <p:nvPr/>
        </p:nvSpPr>
        <p:spPr>
          <a:xfrm>
            <a:off x="7221206" y="2618304"/>
            <a:ext cx="95250" cy="9525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DF1DD71-32C3-0296-D1AE-2EAADF6849F5}"/>
              </a:ext>
            </a:extLst>
          </p:cNvPr>
          <p:cNvSpPr/>
          <p:nvPr/>
        </p:nvSpPr>
        <p:spPr>
          <a:xfrm>
            <a:off x="7423092" y="2618304"/>
            <a:ext cx="95250" cy="9525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49C9293B-29F1-FDFC-8A8A-495C899D92F2}"/>
              </a:ext>
            </a:extLst>
          </p:cNvPr>
          <p:cNvSpPr/>
          <p:nvPr/>
        </p:nvSpPr>
        <p:spPr>
          <a:xfrm rot="16200000">
            <a:off x="6821265" y="2251070"/>
            <a:ext cx="276225" cy="219179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7BD788-C844-4C21-9DE6-750D76DCD257}"/>
              </a:ext>
            </a:extLst>
          </p:cNvPr>
          <p:cNvSpPr txBox="1"/>
          <p:nvPr/>
        </p:nvSpPr>
        <p:spPr>
          <a:xfrm>
            <a:off x="5993779" y="3576638"/>
            <a:ext cx="193119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vi-VN" dirty="0" err="1">
                <a:ea typeface="Roboto" panose="02000000000000000000" pitchFamily="2" charset="0"/>
              </a:rPr>
              <a:t>Video</a:t>
            </a:r>
            <a:r>
              <a:rPr lang="vi-VN" dirty="0">
                <a:ea typeface="Roboto" panose="02000000000000000000" pitchFamily="2" charset="0"/>
              </a:rPr>
              <a:t> </a:t>
            </a:r>
            <a:r>
              <a:rPr lang="vi-VN" dirty="0" err="1">
                <a:ea typeface="Roboto" panose="02000000000000000000" pitchFamily="2" charset="0"/>
              </a:rPr>
              <a:t>time-lapse</a:t>
            </a:r>
            <a:endParaRPr lang="en-US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58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79AFE-1EB2-22AB-AFAF-1238131E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2363F9A-F6C4-D69A-27ED-B8AFF74A114D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BFAC17-95A8-04EC-315B-BFFE1687D97E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Overview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AA96D0-A882-CBC7-20AE-9618255106A0}"/>
              </a:ext>
            </a:extLst>
          </p:cNvPr>
          <p:cNvSpPr/>
          <p:nvPr/>
        </p:nvSpPr>
        <p:spPr>
          <a:xfrm>
            <a:off x="459867" y="1344124"/>
            <a:ext cx="4206812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  <a:spcAft>
                <a:spcPts val="1800"/>
              </a:spcAft>
            </a:pPr>
            <a:r>
              <a:rPr lang="en-US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of the naive approach</a:t>
            </a:r>
            <a:endParaRPr lang="en-US" sz="18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172E70-A974-E91A-D7E3-F071765750D9}"/>
              </a:ext>
            </a:extLst>
          </p:cNvPr>
          <p:cNvGrpSpPr/>
          <p:nvPr/>
        </p:nvGrpSpPr>
        <p:grpSpPr>
          <a:xfrm>
            <a:off x="457200" y="2002656"/>
            <a:ext cx="8234933" cy="2026043"/>
            <a:chOff x="349377" y="1124024"/>
            <a:chExt cx="8234933" cy="2026043"/>
          </a:xfrm>
        </p:grpSpPr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7526C7F3-C310-E771-9805-ABD767EAC499}"/>
                </a:ext>
              </a:extLst>
            </p:cNvPr>
            <p:cNvSpPr/>
            <p:nvPr/>
          </p:nvSpPr>
          <p:spPr>
            <a:xfrm>
              <a:off x="349377" y="1135484"/>
              <a:ext cx="4120135" cy="2014583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A9E1B16B-B81C-EA09-2EFB-AC318EBCEA51}"/>
                </a:ext>
              </a:extLst>
            </p:cNvPr>
            <p:cNvSpPr/>
            <p:nvPr/>
          </p:nvSpPr>
          <p:spPr>
            <a:xfrm>
              <a:off x="349377" y="1124024"/>
              <a:ext cx="4120134" cy="0"/>
            </a:xfrm>
            <a:prstGeom prst="line">
              <a:avLst/>
            </a:prstGeom>
            <a:noFill/>
            <a:ln w="3810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7F61592D-49BE-7B32-9009-4D1BA9531A71}"/>
                </a:ext>
              </a:extLst>
            </p:cNvPr>
            <p:cNvSpPr/>
            <p:nvPr/>
          </p:nvSpPr>
          <p:spPr>
            <a:xfrm>
              <a:off x="539876" y="1276424"/>
              <a:ext cx="8044434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0"/>
                </a:lnSpc>
              </a:pPr>
              <a:r>
                <a:rPr lang="vi-VN" sz="1350" b="1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Problem</a:t>
              </a:r>
              <a:r>
                <a:rPr lang="vi-VN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1: </a:t>
              </a:r>
              <a:r>
                <a:rPr lang="vi-VN" sz="1350" b="1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Inconsistency</a:t>
              </a:r>
              <a:endParaRPr lang="en-US" sz="1350" dirty="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8E05931F-6A38-C7DF-B085-8B13CC9F7236}"/>
                </a:ext>
              </a:extLst>
            </p:cNvPr>
            <p:cNvSpPr/>
            <p:nvPr/>
          </p:nvSpPr>
          <p:spPr>
            <a:xfrm>
              <a:off x="539876" y="1799137"/>
              <a:ext cx="3784474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Training on independent frames fails to capture temporal consistency.</a:t>
              </a:r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D07C327D-C392-4E1F-B2E2-2D632FE14DA4}"/>
                </a:ext>
              </a:extLst>
            </p:cNvPr>
            <p:cNvSpPr/>
            <p:nvPr/>
          </p:nvSpPr>
          <p:spPr>
            <a:xfrm>
              <a:off x="539876" y="2369939"/>
              <a:ext cx="3784474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The model lacks a shared "context" (like weather or season) for the entire sequence, leading to unrealistic color shifts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06CD2A6-0F4D-9084-E0E6-8F08CAC5D1DA}"/>
              </a:ext>
            </a:extLst>
          </p:cNvPr>
          <p:cNvGrpSpPr/>
          <p:nvPr/>
        </p:nvGrpSpPr>
        <p:grpSpPr>
          <a:xfrm>
            <a:off x="4749355" y="1991197"/>
            <a:ext cx="4114799" cy="2037502"/>
            <a:chOff x="4746688" y="1112565"/>
            <a:chExt cx="4114799" cy="2037502"/>
          </a:xfrm>
        </p:grpSpPr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E4C33F8D-E7BD-2258-1B6B-BB8E12EA001F}"/>
                </a:ext>
              </a:extLst>
            </p:cNvPr>
            <p:cNvSpPr/>
            <p:nvPr/>
          </p:nvSpPr>
          <p:spPr>
            <a:xfrm>
              <a:off x="4746688" y="1112566"/>
              <a:ext cx="4047936" cy="2037501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32" name="Shape 8">
              <a:extLst>
                <a:ext uri="{FF2B5EF4-FFF2-40B4-BE49-F238E27FC236}">
                  <a16:creationId xmlns:a16="http://schemas.microsoft.com/office/drawing/2014/main" id="{A284E8DF-8039-458E-FAF4-CF73AB92A1E2}"/>
                </a:ext>
              </a:extLst>
            </p:cNvPr>
            <p:cNvSpPr/>
            <p:nvPr/>
          </p:nvSpPr>
          <p:spPr>
            <a:xfrm>
              <a:off x="4765737" y="1112565"/>
              <a:ext cx="4009837" cy="11459"/>
            </a:xfrm>
            <a:prstGeom prst="line">
              <a:avLst/>
            </a:prstGeom>
            <a:noFill/>
            <a:ln w="3810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A1D83565-8B0C-01C5-429C-FBABFAE1CCE9}"/>
                </a:ext>
              </a:extLst>
            </p:cNvPr>
            <p:cNvSpPr/>
            <p:nvPr/>
          </p:nvSpPr>
          <p:spPr>
            <a:xfrm>
              <a:off x="4937188" y="1264965"/>
              <a:ext cx="3924299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vi-VN" sz="1350" b="1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Problem</a:t>
              </a:r>
              <a:r>
                <a:rPr lang="vi-VN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2: The </a:t>
              </a:r>
              <a:r>
                <a:rPr lang="vi-VN" sz="1350" b="1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</a:t>
              </a:r>
              <a:r>
                <a:rPr lang="vi-VN" sz="1350" b="1" dirty="0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vi-VN" sz="1350" b="1" dirty="0" err="1">
                  <a:solidFill>
                    <a:srgbClr val="1E293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Dilemma</a:t>
              </a:r>
              <a:endParaRPr lang="en-US" sz="1350" dirty="0"/>
            </a:p>
          </p:txBody>
        </p:sp>
      </p:grpSp>
      <p:sp>
        <p:nvSpPr>
          <p:cNvPr id="44" name="Text 6">
            <a:extLst>
              <a:ext uri="{FF2B5EF4-FFF2-40B4-BE49-F238E27FC236}">
                <a16:creationId xmlns:a16="http://schemas.microsoft.com/office/drawing/2014/main" id="{CB4789DF-C028-763A-8E58-3241876305AF}"/>
              </a:ext>
            </a:extLst>
          </p:cNvPr>
          <p:cNvSpPr/>
          <p:nvPr/>
        </p:nvSpPr>
        <p:spPr>
          <a:xfrm>
            <a:off x="4939855" y="2684549"/>
            <a:ext cx="3784474" cy="44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600"/>
              </a:spcBef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Domain A (AMOS): Has accurate time labels (timestamps) but low visual quality (surveillance cams, clipped colors)</a:t>
            </a: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7088FFBE-BA0A-8C09-25CA-92F2E30E912D}"/>
              </a:ext>
            </a:extLst>
          </p:cNvPr>
          <p:cNvSpPr/>
          <p:nvPr/>
        </p:nvSpPr>
        <p:spPr>
          <a:xfrm>
            <a:off x="4939855" y="3255351"/>
            <a:ext cx="3784474" cy="44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600"/>
              </a:spcBef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Domain B (TLVDB): Has high visual quality (rich, artistic illumination) but no time labels.</a:t>
            </a: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E04B70CF-5B18-E31C-F07C-A3EC494DE4F1}"/>
              </a:ext>
            </a:extLst>
          </p:cNvPr>
          <p:cNvSpPr/>
          <p:nvPr/>
        </p:nvSpPr>
        <p:spPr>
          <a:xfrm>
            <a:off x="457200" y="4321969"/>
            <a:ext cx="8229600" cy="33903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8A4B95B8-72FE-07B2-05F3-0F12AEF1D9A5}"/>
              </a:ext>
            </a:extLst>
          </p:cNvPr>
          <p:cNvSpPr/>
          <p:nvPr/>
        </p:nvSpPr>
        <p:spPr>
          <a:xfrm>
            <a:off x="476250" y="4321969"/>
            <a:ext cx="0" cy="33903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DE8C81CB-1096-D655-0A20-BB18166DBAFF}"/>
              </a:ext>
            </a:extLst>
          </p:cNvPr>
          <p:cNvSpPr/>
          <p:nvPr/>
        </p:nvSpPr>
        <p:spPr>
          <a:xfrm>
            <a:off x="571500" y="4398169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Multi-Frame Joint Conditional </a:t>
            </a:r>
            <a:r>
              <a:rPr lang="vi-VN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r>
              <a:rPr lang="vi-VN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vi-VN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</a:t>
            </a:r>
            <a:r>
              <a:rPr lang="vi-VN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0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vi-VN" sz="105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470"/>
              </a:lnSpc>
              <a:buNone/>
            </a:pPr>
            <a:r>
              <a:rPr lang="vi-VN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05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1470"/>
              </a:lnSpc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2437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1207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 Joint Conditional Generation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36284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29211"/>
            <a:ext cx="3677478" cy="1233145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129211"/>
            <a:ext cx="0" cy="1231895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3900" y="2237855"/>
            <a:ext cx="29602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dirty="0"/>
              <a:t>Enforce temporal consistency. Force the generator to learn the "context" of an </a:t>
            </a:r>
            <a:r>
              <a:rPr lang="en-US" sz="1400" i="1" dirty="0"/>
              <a:t>entire sequence</a:t>
            </a:r>
            <a:r>
              <a:rPr lang="en-US" sz="1400" dirty="0"/>
              <a:t>, not just a single frame.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339530"/>
            <a:ext cx="8229600" cy="33903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6250" y="4339530"/>
            <a:ext cx="0" cy="33903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" y="4415730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r>
              <a:rPr lang="vi-VN" sz="105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r>
              <a:rPr lang="vi-VN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Shared latent z captures temporal context across different times of day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9A39C8-0521-3780-11A0-6D17DF43D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416" y="1017449"/>
            <a:ext cx="2642480" cy="31570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CE7B8-B240-27FC-74F0-DF5CF45D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186C10-37BA-7BDA-BE9F-39CFB6DDDFFB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17DE50-D164-2A8A-7A45-851DC07886D7}"/>
              </a:ext>
            </a:extLst>
          </p:cNvPr>
          <p:cNvSpPr/>
          <p:nvPr/>
        </p:nvSpPr>
        <p:spPr>
          <a:xfrm>
            <a:off x="457200" y="228600"/>
            <a:ext cx="61207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 Joint Conditional Generation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4637ED-F93E-E02B-AAFE-20FD866D8948}"/>
              </a:ext>
            </a:extLst>
          </p:cNvPr>
          <p:cNvSpPr/>
          <p:nvPr/>
        </p:nvSpPr>
        <p:spPr>
          <a:xfrm>
            <a:off x="4686300" y="1028254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 Design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4F7823-C06E-9A2B-358A-C2F3B3BEEF6D}"/>
              </a:ext>
            </a:extLst>
          </p:cNvPr>
          <p:cNvSpPr/>
          <p:nvPr/>
        </p:nvSpPr>
        <p:spPr>
          <a:xfrm>
            <a:off x="4686300" y="1607344"/>
            <a:ext cx="4000500" cy="697111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09CE015-8AC5-27F0-3C51-200569D01DA9}"/>
              </a:ext>
            </a:extLst>
          </p:cNvPr>
          <p:cNvSpPr/>
          <p:nvPr/>
        </p:nvSpPr>
        <p:spPr>
          <a:xfrm>
            <a:off x="4705350" y="1607344"/>
            <a:ext cx="0" cy="69711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6307679-54B6-16E8-B3EB-EA7AD6A83225}"/>
              </a:ext>
            </a:extLst>
          </p:cNvPr>
          <p:cNvSpPr/>
          <p:nvPr/>
        </p:nvSpPr>
        <p:spPr>
          <a:xfrm>
            <a:off x="4953000" y="1835944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Two-Part Architecture</a:t>
            </a: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071F3A-9C73-36DF-C4AE-AECA764CB5AF}"/>
              </a:ext>
            </a:extLst>
          </p:cNvPr>
          <p:cNvSpPr/>
          <p:nvPr/>
        </p:nvSpPr>
        <p:spPr>
          <a:xfrm>
            <a:off x="4686300" y="2761655"/>
            <a:ext cx="4000500" cy="1217712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Unconditional - checks if each frame is real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vi-VN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Conditional - validates temporal consistency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Max-pooling aggregation for permutation invariance</a:t>
            </a:r>
            <a:endParaRPr lang="en-US" sz="13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C4111C-9AB6-E526-B644-AC9738D90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63" y="990600"/>
            <a:ext cx="2518752" cy="3141596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A98BEA31-CDCC-30CB-E529-C8A9A4609392}"/>
              </a:ext>
            </a:extLst>
          </p:cNvPr>
          <p:cNvSpPr/>
          <p:nvPr/>
        </p:nvSpPr>
        <p:spPr>
          <a:xfrm>
            <a:off x="441960" y="4419881"/>
            <a:ext cx="8229600" cy="33903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75C0993-4233-29B2-8CAA-D63E90FF83B9}"/>
              </a:ext>
            </a:extLst>
          </p:cNvPr>
          <p:cNvSpPr/>
          <p:nvPr/>
        </p:nvSpPr>
        <p:spPr>
          <a:xfrm>
            <a:off x="461010" y="4419881"/>
            <a:ext cx="0" cy="33903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6396980-E18B-E225-C4D7-CAF21841CD77}"/>
              </a:ext>
            </a:extLst>
          </p:cNvPr>
          <p:cNvSpPr/>
          <p:nvPr/>
        </p:nvSpPr>
        <p:spPr>
          <a:xfrm>
            <a:off x="556260" y="4496081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r>
              <a:rPr lang="vi-VN" sz="105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r>
              <a:rPr lang="vi-VN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Sequence-Aware Discriminator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71352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1321A-7AF4-5FD7-411B-3F44ACF9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8D00A6-CC6E-95E0-6E19-833D4614324E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9A97DB-0E83-8FBC-4090-B82022A135EF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 Training</a:t>
            </a:r>
            <a:endParaRPr lang="en-US" sz="2400" dirty="0"/>
          </a:p>
        </p:txBody>
      </p:sp>
      <p:pic>
        <p:nvPicPr>
          <p:cNvPr id="13" name="Picture 12" descr="A diagram of a graph&#10;&#10;Description automatically generated">
            <a:extLst>
              <a:ext uri="{FF2B5EF4-FFF2-40B4-BE49-F238E27FC236}">
                <a16:creationId xmlns:a16="http://schemas.microsoft.com/office/drawing/2014/main" id="{524B2488-A210-7D7D-A3BA-A197D00E4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73" y="990600"/>
            <a:ext cx="6954220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60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9ADA9-E4F3-105E-97B8-7DB1BEB0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5E1A98-9581-A739-C7B5-77D9C25AE37C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CC7FF4-E695-CF11-36A1-1E64ED6F154F}"/>
              </a:ext>
            </a:extLst>
          </p:cNvPr>
          <p:cNvSpPr/>
          <p:nvPr/>
        </p:nvSpPr>
        <p:spPr>
          <a:xfrm>
            <a:off x="457199" y="228600"/>
            <a:ext cx="57879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4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9A78D62E-3B2D-FF2E-6EB3-508C49D9720C}"/>
              </a:ext>
            </a:extLst>
          </p:cNvPr>
          <p:cNvSpPr/>
          <p:nvPr/>
        </p:nvSpPr>
        <p:spPr>
          <a:xfrm>
            <a:off x="308042" y="1244621"/>
            <a:ext cx="2558375" cy="1809864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3A5DB0F-7067-F6A9-79AC-478B94A1F47E}"/>
              </a:ext>
            </a:extLst>
          </p:cNvPr>
          <p:cNvSpPr/>
          <p:nvPr/>
        </p:nvSpPr>
        <p:spPr>
          <a:xfrm>
            <a:off x="327092" y="1244620"/>
            <a:ext cx="0" cy="1808029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75E40123-432F-9E3F-4FE8-9421B048724F}"/>
              </a:ext>
            </a:extLst>
          </p:cNvPr>
          <p:cNvSpPr/>
          <p:nvPr/>
        </p:nvSpPr>
        <p:spPr>
          <a:xfrm>
            <a:off x="457426" y="1362232"/>
            <a:ext cx="20593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Framework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&amp; </a:t>
            </a: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Dataset</a:t>
            </a:r>
            <a:endParaRPr lang="en-US" sz="135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4F28E1DB-A22E-39EE-639E-13D06CACC407}"/>
              </a:ext>
            </a:extLst>
          </p:cNvPr>
          <p:cNvSpPr/>
          <p:nvPr/>
        </p:nvSpPr>
        <p:spPr>
          <a:xfrm>
            <a:off x="457199" y="1697372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200" dirty="0" err="1"/>
              <a:t>Framework</a:t>
            </a:r>
            <a:r>
              <a:rPr lang="vi-VN" sz="1200" dirty="0"/>
              <a:t>: </a:t>
            </a:r>
            <a:r>
              <a:rPr lang="vi-VN" sz="1200" dirty="0" err="1"/>
              <a:t>Pytorch</a:t>
            </a:r>
            <a:endParaRPr lang="en-US" sz="12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63C3D0A6-CA0B-0BFD-4D46-104CBB36E641}"/>
              </a:ext>
            </a:extLst>
          </p:cNvPr>
          <p:cNvSpPr/>
          <p:nvPr/>
        </p:nvSpPr>
        <p:spPr>
          <a:xfrm>
            <a:off x="457198" y="1998313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200"/>
              <a:t>AMOS: </a:t>
            </a:r>
            <a:r>
              <a:rPr lang="vi-VN" sz="1200" dirty="0"/>
              <a:t>85K </a:t>
            </a:r>
            <a:r>
              <a:rPr lang="vi-VN" sz="1200" dirty="0" err="1"/>
              <a:t>images</a:t>
            </a:r>
            <a:r>
              <a:rPr lang="vi-VN" sz="1200" dirty="0"/>
              <a:t> </a:t>
            </a:r>
            <a:endParaRPr lang="en-US" sz="12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44547923-CF3A-CF22-05D1-2299B7236060}"/>
              </a:ext>
            </a:extLst>
          </p:cNvPr>
          <p:cNvSpPr/>
          <p:nvPr/>
        </p:nvSpPr>
        <p:spPr>
          <a:xfrm>
            <a:off x="457426" y="2299948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200" dirty="0"/>
              <a:t>TLVDB: 135K </a:t>
            </a:r>
            <a:r>
              <a:rPr lang="vi-VN" sz="1200" dirty="0" err="1"/>
              <a:t>images</a:t>
            </a:r>
            <a:r>
              <a:rPr lang="vi-VN" sz="1200" dirty="0"/>
              <a:t> </a:t>
            </a:r>
            <a:endParaRPr lang="en-US" sz="12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2CB3BEE5-42FA-1D5E-28CE-E46CB343C8EB}"/>
              </a:ext>
            </a:extLst>
          </p:cNvPr>
          <p:cNvSpPr/>
          <p:nvPr/>
        </p:nvSpPr>
        <p:spPr>
          <a:xfrm>
            <a:off x="3223097" y="1244621"/>
            <a:ext cx="2558375" cy="1809864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1C154A86-3069-6DF1-B4EB-2620C1A778CD}"/>
              </a:ext>
            </a:extLst>
          </p:cNvPr>
          <p:cNvSpPr/>
          <p:nvPr/>
        </p:nvSpPr>
        <p:spPr>
          <a:xfrm>
            <a:off x="3242147" y="1244621"/>
            <a:ext cx="0" cy="180803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61700D8-FBB0-5102-3EFF-6CA23EFC293F}"/>
              </a:ext>
            </a:extLst>
          </p:cNvPr>
          <p:cNvSpPr/>
          <p:nvPr/>
        </p:nvSpPr>
        <p:spPr>
          <a:xfrm>
            <a:off x="3372481" y="1362232"/>
            <a:ext cx="20593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Hyperparameters</a:t>
            </a:r>
            <a:endParaRPr lang="en-US" sz="135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68AD3895-7D07-C704-1BD8-ADE6F1522839}"/>
              </a:ext>
            </a:extLst>
          </p:cNvPr>
          <p:cNvSpPr/>
          <p:nvPr/>
        </p:nvSpPr>
        <p:spPr>
          <a:xfrm>
            <a:off x="3372254" y="1697372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200" dirty="0" err="1"/>
              <a:t>Iterations</a:t>
            </a:r>
            <a:r>
              <a:rPr lang="vi-VN" sz="1200" dirty="0"/>
              <a:t>: 40000</a:t>
            </a:r>
            <a:endParaRPr lang="en-US" sz="12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7E75828-698F-4400-15E0-A55C7EE6984F}"/>
              </a:ext>
            </a:extLst>
          </p:cNvPr>
          <p:cNvSpPr/>
          <p:nvPr/>
        </p:nvSpPr>
        <p:spPr>
          <a:xfrm>
            <a:off x="3372253" y="1998313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200" dirty="0" err="1"/>
              <a:t>Batch</a:t>
            </a:r>
            <a:r>
              <a:rPr lang="vi-VN" sz="1200" dirty="0"/>
              <a:t> </a:t>
            </a:r>
            <a:r>
              <a:rPr lang="vi-VN" sz="1200" dirty="0" err="1"/>
              <a:t>size</a:t>
            </a:r>
            <a:r>
              <a:rPr lang="vi-VN" sz="1200" dirty="0"/>
              <a:t>: 4</a:t>
            </a:r>
            <a:endParaRPr lang="en-US" sz="12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434AD6EE-2DC3-9F96-BCA4-EC0E4F6A0B23}"/>
              </a:ext>
            </a:extLst>
          </p:cNvPr>
          <p:cNvSpPr/>
          <p:nvPr/>
        </p:nvSpPr>
        <p:spPr>
          <a:xfrm>
            <a:off x="3372481" y="2299948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200" dirty="0" err="1"/>
              <a:t>Sequences</a:t>
            </a:r>
            <a:r>
              <a:rPr lang="vi-VN" sz="1200" dirty="0"/>
              <a:t> </a:t>
            </a:r>
            <a:r>
              <a:rPr lang="vi-VN" sz="1200" dirty="0" err="1"/>
              <a:t>length</a:t>
            </a:r>
            <a:r>
              <a:rPr lang="vi-VN" sz="1200" dirty="0"/>
              <a:t>: 16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C2A1A250-C520-BD79-063D-8435BEE6A9C1}"/>
              </a:ext>
            </a:extLst>
          </p:cNvPr>
          <p:cNvSpPr/>
          <p:nvPr/>
        </p:nvSpPr>
        <p:spPr>
          <a:xfrm>
            <a:off x="3372252" y="2634394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200" dirty="0" err="1"/>
              <a:t>Learning</a:t>
            </a:r>
            <a:r>
              <a:rPr lang="vi-VN" sz="1200" dirty="0"/>
              <a:t> </a:t>
            </a:r>
            <a:r>
              <a:rPr lang="vi-VN" sz="1200" dirty="0" err="1"/>
              <a:t>rate</a:t>
            </a:r>
            <a:r>
              <a:rPr lang="vi-VN" sz="1200" dirty="0"/>
              <a:t>: 0.0002</a:t>
            </a:r>
            <a:endParaRPr lang="en-US" sz="12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28291AF-7394-A8DC-5B91-0348462E1464}"/>
              </a:ext>
            </a:extLst>
          </p:cNvPr>
          <p:cNvSpPr/>
          <p:nvPr/>
        </p:nvSpPr>
        <p:spPr>
          <a:xfrm>
            <a:off x="308042" y="3206885"/>
            <a:ext cx="8466307" cy="1809864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C8E7F273-AB8F-4B1E-3FBA-126CC3CDA941}"/>
              </a:ext>
            </a:extLst>
          </p:cNvPr>
          <p:cNvSpPr/>
          <p:nvPr/>
        </p:nvSpPr>
        <p:spPr>
          <a:xfrm>
            <a:off x="327092" y="3206884"/>
            <a:ext cx="0" cy="1808029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127E9339-ACAA-2AFF-522E-139CCC42BD66}"/>
              </a:ext>
            </a:extLst>
          </p:cNvPr>
          <p:cNvSpPr/>
          <p:nvPr/>
        </p:nvSpPr>
        <p:spPr>
          <a:xfrm>
            <a:off x="457426" y="3324496"/>
            <a:ext cx="68149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Training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Algorithm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(</a:t>
            </a: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per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vi-VN" sz="1350" b="1" dirty="0" err="1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Iteration</a:t>
            </a:r>
            <a:r>
              <a:rPr lang="vi-VN" sz="135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35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98AFEC9-B75E-7990-B3E5-1AFB2230B5D9}"/>
              </a:ext>
            </a:extLst>
          </p:cNvPr>
          <p:cNvSpPr/>
          <p:nvPr/>
        </p:nvSpPr>
        <p:spPr>
          <a:xfrm>
            <a:off x="642026" y="3865123"/>
            <a:ext cx="2044961" cy="817986"/>
          </a:xfrm>
          <a:prstGeom prst="roundRect">
            <a:avLst>
              <a:gd name="adj" fmla="val 833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BBFC3E25-14A9-9A64-61EA-AAFACF318CF6}"/>
              </a:ext>
            </a:extLst>
          </p:cNvPr>
          <p:cNvSpPr/>
          <p:nvPr/>
        </p:nvSpPr>
        <p:spPr>
          <a:xfrm>
            <a:off x="752132" y="4154160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vi-VN" sz="1200" dirty="0" err="1"/>
              <a:t>Update</a:t>
            </a:r>
            <a:r>
              <a:rPr lang="vi-VN" sz="1200" dirty="0"/>
              <a:t> DA &amp; DB</a:t>
            </a:r>
            <a:endParaRPr lang="en-US" sz="12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44F15AE-D3DC-A44A-22F2-63519B1C7046}"/>
              </a:ext>
            </a:extLst>
          </p:cNvPr>
          <p:cNvSpPr/>
          <p:nvPr/>
        </p:nvSpPr>
        <p:spPr>
          <a:xfrm>
            <a:off x="3528240" y="3861470"/>
            <a:ext cx="2044961" cy="817986"/>
          </a:xfrm>
          <a:prstGeom prst="roundRect">
            <a:avLst>
              <a:gd name="adj" fmla="val 833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166D220D-B7EB-C478-97D9-30880D6109E3}"/>
              </a:ext>
            </a:extLst>
          </p:cNvPr>
          <p:cNvSpPr/>
          <p:nvPr/>
        </p:nvSpPr>
        <p:spPr>
          <a:xfrm>
            <a:off x="3638346" y="4150507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vi-VN" sz="1200" dirty="0" err="1"/>
              <a:t>Update</a:t>
            </a:r>
            <a:r>
              <a:rPr lang="vi-VN" sz="1200" dirty="0"/>
              <a:t> GA</a:t>
            </a:r>
            <a:endParaRPr lang="en-US" sz="120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3DF1868-52BF-E94B-D497-D89A53C2CCD6}"/>
              </a:ext>
            </a:extLst>
          </p:cNvPr>
          <p:cNvSpPr/>
          <p:nvPr/>
        </p:nvSpPr>
        <p:spPr>
          <a:xfrm>
            <a:off x="6414454" y="3857817"/>
            <a:ext cx="2044961" cy="817986"/>
          </a:xfrm>
          <a:prstGeom prst="roundRect">
            <a:avLst>
              <a:gd name="adj" fmla="val 833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3C1C1B31-0561-35C7-5DA8-D102451B2094}"/>
              </a:ext>
            </a:extLst>
          </p:cNvPr>
          <p:cNvSpPr/>
          <p:nvPr/>
        </p:nvSpPr>
        <p:spPr>
          <a:xfrm>
            <a:off x="6524560" y="4146854"/>
            <a:ext cx="18247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</a:pPr>
            <a:r>
              <a:rPr lang="vi-VN" sz="1200" dirty="0" err="1"/>
              <a:t>Update</a:t>
            </a:r>
            <a:r>
              <a:rPr lang="vi-VN" sz="1200" dirty="0"/>
              <a:t> GB</a:t>
            </a:r>
            <a:endParaRPr lang="en-US" sz="12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B54883-779A-775F-44D1-0A8620AD883A}"/>
              </a:ext>
            </a:extLst>
          </p:cNvPr>
          <p:cNvCxnSpPr/>
          <p:nvPr/>
        </p:nvCxnSpPr>
        <p:spPr>
          <a:xfrm>
            <a:off x="2833990" y="4260715"/>
            <a:ext cx="466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EEEE266-A19D-E93B-9CC3-90DA86BC3CEE}"/>
              </a:ext>
            </a:extLst>
          </p:cNvPr>
          <p:cNvCxnSpPr/>
          <p:nvPr/>
        </p:nvCxnSpPr>
        <p:spPr>
          <a:xfrm>
            <a:off x="5723105" y="4263958"/>
            <a:ext cx="466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84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03D0F-A9E0-5AC6-3FD7-086C8580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C43423-7C6C-1B01-8198-2361848C63DB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C4B80B-B82E-BF4F-C4E7-38B0ED5CEBF9}"/>
              </a:ext>
            </a:extLst>
          </p:cNvPr>
          <p:cNvSpPr/>
          <p:nvPr/>
        </p:nvSpPr>
        <p:spPr>
          <a:xfrm>
            <a:off x="457199" y="228600"/>
            <a:ext cx="57879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Issues &amp; Resolutions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84F3CA-986F-1955-CCE9-6DB940DF26EB}"/>
              </a:ext>
            </a:extLst>
          </p:cNvPr>
          <p:cNvGrpSpPr/>
          <p:nvPr/>
        </p:nvGrpSpPr>
        <p:grpSpPr>
          <a:xfrm>
            <a:off x="366409" y="1101411"/>
            <a:ext cx="4120135" cy="3859694"/>
            <a:chOff x="349377" y="1124024"/>
            <a:chExt cx="4120135" cy="3859694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A5B6D875-C6BE-6D59-CB2A-3B92A438E4B7}"/>
                </a:ext>
              </a:extLst>
            </p:cNvPr>
            <p:cNvSpPr/>
            <p:nvPr/>
          </p:nvSpPr>
          <p:spPr>
            <a:xfrm>
              <a:off x="349377" y="1135484"/>
              <a:ext cx="4120135" cy="3848234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D9D0F5C7-2D1E-54AE-29E4-D8DE7081C546}"/>
                </a:ext>
              </a:extLst>
            </p:cNvPr>
            <p:cNvSpPr/>
            <p:nvPr/>
          </p:nvSpPr>
          <p:spPr>
            <a:xfrm>
              <a:off x="349377" y="1124024"/>
              <a:ext cx="4120134" cy="0"/>
            </a:xfrm>
            <a:prstGeom prst="line">
              <a:avLst/>
            </a:prstGeom>
            <a:noFill/>
            <a:ln w="38100">
              <a:solidFill>
                <a:srgbClr val="FE5E6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868DE497-60F4-8536-AAC3-CC2065DDB332}"/>
                </a:ext>
              </a:extLst>
            </p:cNvPr>
            <p:cNvSpPr/>
            <p:nvPr/>
          </p:nvSpPr>
          <p:spPr>
            <a:xfrm>
              <a:off x="539876" y="1276424"/>
              <a:ext cx="3784474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0"/>
                </a:lnSpc>
              </a:pPr>
              <a:r>
                <a:rPr lang="vi-VN" sz="1350" b="1" dirty="0" err="1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Issues</a:t>
              </a:r>
              <a:r>
                <a:rPr lang="vi-VN" sz="1350" b="1" dirty="0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endParaRPr lang="en-US" sz="1350" dirty="0">
                <a:solidFill>
                  <a:srgbClr val="FE5E60"/>
                </a:solidFill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88C16E92-1A93-C17F-5E8E-F8529B461575}"/>
                </a:ext>
              </a:extLst>
            </p:cNvPr>
            <p:cNvSpPr/>
            <p:nvPr/>
          </p:nvSpPr>
          <p:spPr>
            <a:xfrm>
              <a:off x="539876" y="1638217"/>
              <a:ext cx="3301730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Generator (Gb) failed to preserve input structure</a:t>
              </a:r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344C5A00-C4E5-68E9-D138-1A7C4F3FDC8C}"/>
                </a:ext>
              </a:extLst>
            </p:cNvPr>
            <p:cNvSpPr/>
            <p:nvPr/>
          </p:nvSpPr>
          <p:spPr>
            <a:xfrm>
              <a:off x="539876" y="1984941"/>
              <a:ext cx="3301730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The generated images resembled noise and lost all content from the input image.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8F9D8F-88ED-F6E1-5904-5E5C16BBF047}"/>
              </a:ext>
            </a:extLst>
          </p:cNvPr>
          <p:cNvGrpSpPr/>
          <p:nvPr/>
        </p:nvGrpSpPr>
        <p:grpSpPr>
          <a:xfrm>
            <a:off x="4729734" y="1101411"/>
            <a:ext cx="4120135" cy="3813488"/>
            <a:chOff x="349377" y="1124024"/>
            <a:chExt cx="4120135" cy="3813488"/>
          </a:xfrm>
        </p:grpSpPr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36F36D17-2ABE-A745-EE41-2A3044B7B4C2}"/>
                </a:ext>
              </a:extLst>
            </p:cNvPr>
            <p:cNvSpPr/>
            <p:nvPr/>
          </p:nvSpPr>
          <p:spPr>
            <a:xfrm>
              <a:off x="349377" y="1135484"/>
              <a:ext cx="4120135" cy="3802028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54D1583B-7C4E-7723-F256-A0E6BEF97E92}"/>
                </a:ext>
              </a:extLst>
            </p:cNvPr>
            <p:cNvSpPr/>
            <p:nvPr/>
          </p:nvSpPr>
          <p:spPr>
            <a:xfrm>
              <a:off x="349377" y="1124024"/>
              <a:ext cx="4120134" cy="0"/>
            </a:xfrm>
            <a:prstGeom prst="line">
              <a:avLst/>
            </a:prstGeom>
            <a:noFill/>
            <a:ln w="38100">
              <a:solidFill>
                <a:srgbClr val="5EA8A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BC22942F-AF38-E8A2-B3CD-60740E164537}"/>
                </a:ext>
              </a:extLst>
            </p:cNvPr>
            <p:cNvSpPr/>
            <p:nvPr/>
          </p:nvSpPr>
          <p:spPr>
            <a:xfrm>
              <a:off x="539876" y="1276424"/>
              <a:ext cx="3784474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0"/>
                </a:lnSpc>
              </a:pPr>
              <a:r>
                <a:rPr lang="vi-VN" sz="1350" b="1" dirty="0" err="1">
                  <a:solidFill>
                    <a:srgbClr val="5EA8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Solutions</a:t>
              </a:r>
              <a:r>
                <a:rPr lang="vi-VN" sz="1350" b="1" dirty="0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endParaRPr lang="en-US" sz="1350" dirty="0">
                <a:solidFill>
                  <a:srgbClr val="FE5E60"/>
                </a:solidFill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92D8ABE8-D39B-57F1-29FC-1C3CF33574F5}"/>
                </a:ext>
              </a:extLst>
            </p:cNvPr>
            <p:cNvSpPr/>
            <p:nvPr/>
          </p:nvSpPr>
          <p:spPr>
            <a:xfrm>
              <a:off x="539876" y="1657275"/>
              <a:ext cx="3784474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Integrated a VGG-based Perceptual Loss into the </a:t>
              </a:r>
              <a:r>
                <a:rPr lang="vi-VN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Gb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training</a:t>
              </a:r>
              <a:r>
                <a:rPr lang="vi-VN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loss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F5502195-BA2A-D2D6-CF70-0DC2276A704B}"/>
                </a:ext>
              </a:extLst>
            </p:cNvPr>
            <p:cNvSpPr/>
            <p:nvPr/>
          </p:nvSpPr>
          <p:spPr>
            <a:xfrm>
              <a:off x="517206" y="2163519"/>
              <a:ext cx="3880027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Rationale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: This forces </a:t>
              </a:r>
              <a:r>
                <a:rPr lang="vi-VN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Gb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to match high-level content features (extracted by VGG) of the input, rather than just optimizing for pixel values via the adversarial loss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40136CB-3052-0F66-FCFF-9BF6EDE23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087" y="2794774"/>
            <a:ext cx="1947408" cy="19176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E7D2D6-7B9D-A66C-261F-4F1DB1F4D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915495" y="2805032"/>
            <a:ext cx="1907419" cy="190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48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199" y="228600"/>
            <a:ext cx="57879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Issues &amp; Resolutions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90085B-C437-4EBE-6464-BBBD1E780E12}"/>
              </a:ext>
            </a:extLst>
          </p:cNvPr>
          <p:cNvGrpSpPr/>
          <p:nvPr/>
        </p:nvGrpSpPr>
        <p:grpSpPr>
          <a:xfrm>
            <a:off x="366409" y="1101411"/>
            <a:ext cx="4120135" cy="3859694"/>
            <a:chOff x="349377" y="1124024"/>
            <a:chExt cx="4120135" cy="3859694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AD3D6A1B-EAD8-93A1-3BC7-26387429CDAD}"/>
                </a:ext>
              </a:extLst>
            </p:cNvPr>
            <p:cNvSpPr/>
            <p:nvPr/>
          </p:nvSpPr>
          <p:spPr>
            <a:xfrm>
              <a:off x="349377" y="1135484"/>
              <a:ext cx="4120135" cy="3848234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414E0A35-5CAF-47E5-73F5-9876B77DBB78}"/>
                </a:ext>
              </a:extLst>
            </p:cNvPr>
            <p:cNvSpPr/>
            <p:nvPr/>
          </p:nvSpPr>
          <p:spPr>
            <a:xfrm>
              <a:off x="349377" y="1124024"/>
              <a:ext cx="4120134" cy="0"/>
            </a:xfrm>
            <a:prstGeom prst="line">
              <a:avLst/>
            </a:prstGeom>
            <a:noFill/>
            <a:ln w="38100">
              <a:solidFill>
                <a:srgbClr val="FE5E6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1ADCF771-3AFF-58EF-6DDA-7CC17FC651B8}"/>
                </a:ext>
              </a:extLst>
            </p:cNvPr>
            <p:cNvSpPr/>
            <p:nvPr/>
          </p:nvSpPr>
          <p:spPr>
            <a:xfrm>
              <a:off x="539876" y="1276424"/>
              <a:ext cx="3784474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0"/>
                </a:lnSpc>
              </a:pPr>
              <a:r>
                <a:rPr lang="vi-VN" sz="1350" b="1" dirty="0" err="1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Issues</a:t>
              </a:r>
              <a:r>
                <a:rPr lang="vi-VN" sz="1350" b="1" dirty="0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endParaRPr lang="en-US" sz="1350" dirty="0">
                <a:solidFill>
                  <a:srgbClr val="FE5E60"/>
                </a:solidFill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8D19DA7A-7BA8-1EAC-533C-C662B4670A3C}"/>
                </a:ext>
              </a:extLst>
            </p:cNvPr>
            <p:cNvSpPr/>
            <p:nvPr/>
          </p:nvSpPr>
          <p:spPr>
            <a:xfrm>
              <a:off x="539876" y="1638217"/>
              <a:ext cx="3301730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Time condition (t) was ignored by the generator</a:t>
              </a:r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2D3A2CAD-5817-A467-CDB1-85432F38674B}"/>
                </a:ext>
              </a:extLst>
            </p:cNvPr>
            <p:cNvSpPr/>
            <p:nvPr/>
          </p:nvSpPr>
          <p:spPr>
            <a:xfrm>
              <a:off x="539876" y="1984941"/>
              <a:ext cx="3301730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The model produced the same image regardless of the input timestamp (a form of mode collapse)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904A94-26D8-A813-9DED-4BD20C1E04CE}"/>
              </a:ext>
            </a:extLst>
          </p:cNvPr>
          <p:cNvGrpSpPr/>
          <p:nvPr/>
        </p:nvGrpSpPr>
        <p:grpSpPr>
          <a:xfrm>
            <a:off x="4729734" y="1101411"/>
            <a:ext cx="4120135" cy="3813488"/>
            <a:chOff x="349377" y="1124024"/>
            <a:chExt cx="4120135" cy="3813488"/>
          </a:xfrm>
        </p:grpSpPr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5E5658CE-1A9C-7369-BB01-355BF182D0C0}"/>
                </a:ext>
              </a:extLst>
            </p:cNvPr>
            <p:cNvSpPr/>
            <p:nvPr/>
          </p:nvSpPr>
          <p:spPr>
            <a:xfrm>
              <a:off x="349377" y="1135484"/>
              <a:ext cx="4120135" cy="3802028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DCC609D3-0FF6-6E7A-24E2-B0DE7051870D}"/>
                </a:ext>
              </a:extLst>
            </p:cNvPr>
            <p:cNvSpPr/>
            <p:nvPr/>
          </p:nvSpPr>
          <p:spPr>
            <a:xfrm>
              <a:off x="349377" y="1124024"/>
              <a:ext cx="4120134" cy="0"/>
            </a:xfrm>
            <a:prstGeom prst="line">
              <a:avLst/>
            </a:prstGeom>
            <a:noFill/>
            <a:ln w="38100">
              <a:solidFill>
                <a:srgbClr val="5EA8A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34ECAF7E-91D2-12E0-6F77-1D95C1A5418F}"/>
                </a:ext>
              </a:extLst>
            </p:cNvPr>
            <p:cNvSpPr/>
            <p:nvPr/>
          </p:nvSpPr>
          <p:spPr>
            <a:xfrm>
              <a:off x="539876" y="1276424"/>
              <a:ext cx="3784474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0"/>
                </a:lnSpc>
              </a:pPr>
              <a:r>
                <a:rPr lang="vi-VN" sz="1350" b="1" dirty="0" err="1">
                  <a:solidFill>
                    <a:srgbClr val="5EA8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Solutions</a:t>
              </a:r>
              <a:r>
                <a:rPr lang="vi-VN" sz="1350" b="1" dirty="0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endParaRPr lang="en-US" sz="1350" dirty="0">
                <a:solidFill>
                  <a:srgbClr val="FE5E60"/>
                </a:solidFill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19967178-C0EC-9736-10F6-0D8C0DF1AD15}"/>
                </a:ext>
              </a:extLst>
            </p:cNvPr>
            <p:cNvSpPr/>
            <p:nvPr/>
          </p:nvSpPr>
          <p:spPr>
            <a:xfrm>
              <a:off x="539876" y="1657275"/>
              <a:ext cx="3784474" cy="635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Re-architected the conditioning mechanism. The latent context (z) and time embedding (t) are now concatenated at every block of the </a:t>
              </a:r>
              <a:r>
                <a:rPr lang="vi-VN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Gb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 Encoder</a:t>
              </a:r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C6F8C85B-AE5F-BAED-43B1-77B93F72BBBD}"/>
                </a:ext>
              </a:extLst>
            </p:cNvPr>
            <p:cNvSpPr/>
            <p:nvPr/>
          </p:nvSpPr>
          <p:spPr>
            <a:xfrm>
              <a:off x="539876" y="2303859"/>
              <a:ext cx="3784474" cy="635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Rationale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: This forces the network to process the time information at multiple feature scales, preventing the condition from being "lost" or "ignored" in deep 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7779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F536C-FF6A-3E6C-5688-27388B6A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AACD0E-5FE8-BB78-9798-A09FAB2BD9F9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DB0302-9C0D-2F0A-EE99-3BCB0CD0AC6C}"/>
              </a:ext>
            </a:extLst>
          </p:cNvPr>
          <p:cNvSpPr/>
          <p:nvPr/>
        </p:nvSpPr>
        <p:spPr>
          <a:xfrm>
            <a:off x="457199" y="228600"/>
            <a:ext cx="57879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Issues &amp; Resolutions</a:t>
            </a:r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98805D-0DC2-C949-AA08-1F40E577EE95}"/>
              </a:ext>
            </a:extLst>
          </p:cNvPr>
          <p:cNvGrpSpPr/>
          <p:nvPr/>
        </p:nvGrpSpPr>
        <p:grpSpPr>
          <a:xfrm>
            <a:off x="366409" y="1101411"/>
            <a:ext cx="4120135" cy="3859694"/>
            <a:chOff x="349377" y="1124024"/>
            <a:chExt cx="4120135" cy="3859694"/>
          </a:xfrm>
        </p:grpSpPr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409E8526-F603-430F-75EA-5A6E5AB312C7}"/>
                </a:ext>
              </a:extLst>
            </p:cNvPr>
            <p:cNvSpPr/>
            <p:nvPr/>
          </p:nvSpPr>
          <p:spPr>
            <a:xfrm>
              <a:off x="349377" y="1135484"/>
              <a:ext cx="4120135" cy="3848234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B0368D06-A25D-B9CA-B236-C141E166DB5F}"/>
                </a:ext>
              </a:extLst>
            </p:cNvPr>
            <p:cNvSpPr/>
            <p:nvPr/>
          </p:nvSpPr>
          <p:spPr>
            <a:xfrm>
              <a:off x="349377" y="1124024"/>
              <a:ext cx="4120134" cy="0"/>
            </a:xfrm>
            <a:prstGeom prst="line">
              <a:avLst/>
            </a:prstGeom>
            <a:noFill/>
            <a:ln w="38100">
              <a:solidFill>
                <a:srgbClr val="FE5E6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ADA5CE9-8351-AEB3-D40A-BBD7F062F339}"/>
                </a:ext>
              </a:extLst>
            </p:cNvPr>
            <p:cNvSpPr/>
            <p:nvPr/>
          </p:nvSpPr>
          <p:spPr>
            <a:xfrm>
              <a:off x="539876" y="1276424"/>
              <a:ext cx="3784474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0"/>
                </a:lnSpc>
              </a:pPr>
              <a:r>
                <a:rPr lang="vi-VN" sz="1350" b="1" dirty="0" err="1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Issues</a:t>
              </a:r>
              <a:r>
                <a:rPr lang="vi-VN" sz="1350" b="1" dirty="0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endParaRPr lang="en-US" sz="1350" dirty="0">
                <a:solidFill>
                  <a:srgbClr val="FE5E60"/>
                </a:solidFill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A5FAEF4F-C724-DCD2-C380-974CE9E9293E}"/>
                </a:ext>
              </a:extLst>
            </p:cNvPr>
            <p:cNvSpPr/>
            <p:nvPr/>
          </p:nvSpPr>
          <p:spPr>
            <a:xfrm>
              <a:off x="539876" y="1638217"/>
              <a:ext cx="3301730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Poor differentiation between daytime timestamps</a:t>
              </a:r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6701DC0C-1005-EC5C-0841-EFC952FEC849}"/>
                </a:ext>
              </a:extLst>
            </p:cNvPr>
            <p:cNvSpPr/>
            <p:nvPr/>
          </p:nvSpPr>
          <p:spPr>
            <a:xfrm>
              <a:off x="539876" y="1984941"/>
              <a:ext cx="3301730" cy="4496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Generated images for different daytime hours (e.g., 10:00 AM vs 2:00 PM) looked almost identical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C992C0-0173-5963-6192-BAC23D7047DC}"/>
              </a:ext>
            </a:extLst>
          </p:cNvPr>
          <p:cNvGrpSpPr/>
          <p:nvPr/>
        </p:nvGrpSpPr>
        <p:grpSpPr>
          <a:xfrm>
            <a:off x="4729734" y="1101411"/>
            <a:ext cx="4120135" cy="3813488"/>
            <a:chOff x="349377" y="1124024"/>
            <a:chExt cx="4120135" cy="3813488"/>
          </a:xfrm>
        </p:grpSpPr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4E616311-F69E-474C-0272-FD453F1E9C8C}"/>
                </a:ext>
              </a:extLst>
            </p:cNvPr>
            <p:cNvSpPr/>
            <p:nvPr/>
          </p:nvSpPr>
          <p:spPr>
            <a:xfrm>
              <a:off x="349377" y="1135484"/>
              <a:ext cx="4120135" cy="3802028"/>
            </a:xfrm>
            <a:prstGeom prst="rect">
              <a:avLst/>
            </a:prstGeom>
            <a:solidFill>
              <a:srgbClr val="F0F9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616ACEA2-8561-F38D-2BA4-2F039F004428}"/>
                </a:ext>
              </a:extLst>
            </p:cNvPr>
            <p:cNvSpPr/>
            <p:nvPr/>
          </p:nvSpPr>
          <p:spPr>
            <a:xfrm>
              <a:off x="349377" y="1124024"/>
              <a:ext cx="4120134" cy="0"/>
            </a:xfrm>
            <a:prstGeom prst="line">
              <a:avLst/>
            </a:prstGeom>
            <a:noFill/>
            <a:ln w="38100">
              <a:solidFill>
                <a:srgbClr val="5EA8A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EE3EF2BC-5455-4FE6-2E32-D7EA2D75CC8D}"/>
                </a:ext>
              </a:extLst>
            </p:cNvPr>
            <p:cNvSpPr/>
            <p:nvPr/>
          </p:nvSpPr>
          <p:spPr>
            <a:xfrm>
              <a:off x="539876" y="1276424"/>
              <a:ext cx="3784474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90"/>
                </a:lnSpc>
              </a:pPr>
              <a:r>
                <a:rPr lang="vi-VN" sz="1350" b="1" dirty="0" err="1">
                  <a:solidFill>
                    <a:srgbClr val="5EA8A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Solutions</a:t>
              </a:r>
              <a:r>
                <a:rPr lang="vi-VN" sz="1350" b="1" dirty="0">
                  <a:solidFill>
                    <a:srgbClr val="FE5E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endParaRPr lang="en-US" sz="1350" dirty="0">
                <a:solidFill>
                  <a:srgbClr val="FE5E60"/>
                </a:solidFill>
              </a:endParaRPr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FEC1156D-6101-D08E-547B-5B8312CEBCFB}"/>
                </a:ext>
              </a:extLst>
            </p:cNvPr>
            <p:cNvSpPr/>
            <p:nvPr/>
          </p:nvSpPr>
          <p:spPr>
            <a:xfrm>
              <a:off x="539876" y="1657275"/>
              <a:ext cx="3784474" cy="635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70"/>
                </a:lnSpc>
                <a:spcBef>
                  <a:spcPts val="600"/>
                </a:spcBef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Switched from a continuous time variable t in [0, 1)</a:t>
              </a:r>
              <a:r>
                <a:rPr lang="vi-VN" sz="11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to 48 discrete time classes (1 class per 30-minute interval)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5BB2BE0-1AE2-149B-0C91-CE29A8C4F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32" y="2667946"/>
            <a:ext cx="3134906" cy="20564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AAA95B-6E96-22A6-4D48-294E62BF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917" y="3073815"/>
            <a:ext cx="3583664" cy="5751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D43D75-3BED-5BE6-B53D-46CFD1B31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3917" y="3649008"/>
            <a:ext cx="3559569" cy="57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28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C1EA5-05DC-E9FA-E52C-54FEC4BF8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8F5BF3-49BE-C370-E374-F98531ACF676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A341BE-841F-E628-5EA6-2BA83FEFE106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079037-F39A-ED4F-7992-5CD64E092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1" y="1214293"/>
            <a:ext cx="4791076" cy="16987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CD838C-AF2F-5247-E327-19DF058F3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1" y="2913090"/>
            <a:ext cx="4791076" cy="16439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919001-415B-534E-62CE-A7402D648802}"/>
              </a:ext>
            </a:extLst>
          </p:cNvPr>
          <p:cNvSpPr txBox="1"/>
          <p:nvPr/>
        </p:nvSpPr>
        <p:spPr>
          <a:xfrm>
            <a:off x="352423" y="1323975"/>
            <a:ext cx="320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output images during training</a:t>
            </a:r>
          </a:p>
        </p:txBody>
      </p:sp>
    </p:spTree>
    <p:extLst>
      <p:ext uri="{BB962C8B-B14F-4D97-AF65-F5344CB8AC3E}">
        <p14:creationId xmlns:p14="http://schemas.microsoft.com/office/powerpoint/2010/main" val="368808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4FFED-9BBD-49C4-B48F-AB06F2F79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66B405-4DA9-CF33-7ED6-0045E8BD7E9C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752807-93A0-8863-D347-A034695DB13D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vi-VN" sz="2400" b="1" dirty="0" err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Android</a:t>
            </a:r>
            <a:r>
              <a:rPr lang="vi-VN" sz="2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vi-VN" sz="2400" b="1" dirty="0" err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integration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96C772-0018-39EA-26A2-364EB6F4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956" y="1638298"/>
            <a:ext cx="1255677" cy="2571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D453B-15B1-71AD-2E6A-9AFFD9959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18" y="1638298"/>
            <a:ext cx="1258456" cy="2571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D8575A-52A9-8B4A-CA8F-9615D2C90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3622" y="1638298"/>
            <a:ext cx="1260552" cy="2571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308412-90F1-84FD-6FF4-6059C0FF1D82}"/>
              </a:ext>
            </a:extLst>
          </p:cNvPr>
          <p:cNvSpPr txBox="1"/>
          <p:nvPr/>
        </p:nvSpPr>
        <p:spPr>
          <a:xfrm>
            <a:off x="457200" y="2462508"/>
            <a:ext cx="3375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into Android app using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TorchScript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Android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064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20539-C235-2305-4702-9CBFC666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C894AC-34BE-66DF-A253-1AF237FC8BC7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D4EDA7-A083-1EA9-88E2-B234BB130BCB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vi-VN" sz="2400" b="1" dirty="0" err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Android</a:t>
            </a:r>
            <a:r>
              <a:rPr lang="vi-VN" sz="2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 </a:t>
            </a:r>
            <a:r>
              <a:rPr lang="vi-VN" sz="2400" b="1" dirty="0" err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integration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90566D-B87D-D082-7E94-AD18120F807C}"/>
              </a:ext>
            </a:extLst>
          </p:cNvPr>
          <p:cNvSpPr/>
          <p:nvPr/>
        </p:nvSpPr>
        <p:spPr>
          <a:xfrm>
            <a:off x="457200" y="1513756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Post-Processing: Guided </a:t>
            </a:r>
            <a:r>
              <a:rPr lang="en-US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Upsampling</a:t>
            </a: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High Resolution</a:t>
            </a:r>
            <a:endParaRPr lang="en-US" sz="18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3C803F3-8989-0CD2-D9E5-84938917DCE7}"/>
              </a:ext>
            </a:extLst>
          </p:cNvPr>
          <p:cNvSpPr/>
          <p:nvPr/>
        </p:nvSpPr>
        <p:spPr>
          <a:xfrm>
            <a:off x="457200" y="2479281"/>
            <a:ext cx="3784474" cy="73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600"/>
              </a:spcBef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It assumes the final image is a simple linear transform of the original: </a:t>
            </a:r>
            <a:endParaRPr lang="vi-VN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70"/>
              </a:lnSpc>
              <a:spcBef>
                <a:spcPts val="600"/>
              </a:spcBef>
            </a:pP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Final_Image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(p) = s(p) *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Original_Image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(p) + b(p)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C8A230F-A1A0-033E-2F5A-5735C685F1EE}"/>
              </a:ext>
            </a:extLst>
          </p:cNvPr>
          <p:cNvSpPr/>
          <p:nvPr/>
        </p:nvSpPr>
        <p:spPr>
          <a:xfrm>
            <a:off x="457200" y="3315104"/>
            <a:ext cx="3784474" cy="73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Bef>
                <a:spcPts val="600"/>
              </a:spcBef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The goal is to find the transformation maps s (scale) and b (bias) that "re-color" the original image to look like the GAN output.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42924C-4280-9065-14E4-3E561966C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332" y="2075687"/>
            <a:ext cx="4513352" cy="183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61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0D8E3-246C-DF22-B00A-97E354E7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154E27-220A-BF1C-250D-FC26DA664CB8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64F23A-41C1-DB14-252F-6AE56DAF4162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4AAEA5A-D8EF-65FF-AA34-E2250D38488A}"/>
              </a:ext>
            </a:extLst>
          </p:cNvPr>
          <p:cNvSpPr/>
          <p:nvPr/>
        </p:nvSpPr>
        <p:spPr>
          <a:xfrm>
            <a:off x="414528" y="1508894"/>
            <a:ext cx="4000500" cy="697111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26787775-8801-3CAA-8FEF-467DECB783BB}"/>
              </a:ext>
            </a:extLst>
          </p:cNvPr>
          <p:cNvSpPr/>
          <p:nvPr/>
        </p:nvSpPr>
        <p:spPr>
          <a:xfrm>
            <a:off x="433578" y="1508894"/>
            <a:ext cx="0" cy="69711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A397839D-9AEC-948F-BAE6-046602D98DC9}"/>
              </a:ext>
            </a:extLst>
          </p:cNvPr>
          <p:cNvSpPr/>
          <p:nvPr/>
        </p:nvSpPr>
        <p:spPr>
          <a:xfrm>
            <a:off x="669036" y="1619473"/>
            <a:ext cx="3575304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daytime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nighttime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5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8FF6C81-D624-4507-76B8-7CDAFA95AFED}"/>
              </a:ext>
            </a:extLst>
          </p:cNvPr>
          <p:cNvSpPr/>
          <p:nvPr/>
        </p:nvSpPr>
        <p:spPr>
          <a:xfrm>
            <a:off x="408432" y="2358405"/>
            <a:ext cx="4000500" cy="697111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267260B1-EDFE-C2EB-26CD-87358FD7E574}"/>
              </a:ext>
            </a:extLst>
          </p:cNvPr>
          <p:cNvSpPr/>
          <p:nvPr/>
        </p:nvSpPr>
        <p:spPr>
          <a:xfrm>
            <a:off x="427482" y="2358405"/>
            <a:ext cx="0" cy="69711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7F53600A-60B5-DB7E-3F91-3149D96384F6}"/>
              </a:ext>
            </a:extLst>
          </p:cNvPr>
          <p:cNvSpPr/>
          <p:nvPr/>
        </p:nvSpPr>
        <p:spPr>
          <a:xfrm>
            <a:off x="669036" y="2467049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3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6BB1B00B-F9B0-A4FD-B542-62A4F5F1BDC4}"/>
              </a:ext>
            </a:extLst>
          </p:cNvPr>
          <p:cNvSpPr/>
          <p:nvPr/>
        </p:nvSpPr>
        <p:spPr>
          <a:xfrm>
            <a:off x="402336" y="3207916"/>
            <a:ext cx="4000500" cy="697111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C3649F3B-1467-C326-8136-2BAFD1895041}"/>
              </a:ext>
            </a:extLst>
          </p:cNvPr>
          <p:cNvSpPr/>
          <p:nvPr/>
        </p:nvSpPr>
        <p:spPr>
          <a:xfrm>
            <a:off x="421386" y="3207916"/>
            <a:ext cx="0" cy="69711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94EB201D-C3EE-BAA7-49A1-C9DE4E408AEC}"/>
              </a:ext>
            </a:extLst>
          </p:cNvPr>
          <p:cNvSpPr/>
          <p:nvPr/>
        </p:nvSpPr>
        <p:spPr>
          <a:xfrm>
            <a:off x="669036" y="3314774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quality is not really good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135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3BDDE89B-47D3-E65D-9D3D-1AA4B9DCC315}"/>
              </a:ext>
            </a:extLst>
          </p:cNvPr>
          <p:cNvSpPr/>
          <p:nvPr/>
        </p:nvSpPr>
        <p:spPr>
          <a:xfrm>
            <a:off x="414528" y="1015529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r>
              <a:rPr lang="vi-VN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7B7A42-02B5-0873-14EB-21FCF2671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718" y="1493490"/>
            <a:ext cx="2557682" cy="2777282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B2001E12-AD4D-3338-1185-11FAAC73F820}"/>
              </a:ext>
            </a:extLst>
          </p:cNvPr>
          <p:cNvSpPr/>
          <p:nvPr/>
        </p:nvSpPr>
        <p:spPr>
          <a:xfrm>
            <a:off x="396240" y="4053855"/>
            <a:ext cx="4000500" cy="697111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5557FE2-7D05-54A3-7C28-FDE0C0688A31}"/>
              </a:ext>
            </a:extLst>
          </p:cNvPr>
          <p:cNvSpPr/>
          <p:nvPr/>
        </p:nvSpPr>
        <p:spPr>
          <a:xfrm>
            <a:off x="415290" y="4053855"/>
            <a:ext cx="0" cy="69711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59F4434A-74E1-81B2-3342-C64357FB7A8D}"/>
              </a:ext>
            </a:extLst>
          </p:cNvPr>
          <p:cNvSpPr/>
          <p:nvPr/>
        </p:nvSpPr>
        <p:spPr>
          <a:xfrm>
            <a:off x="662940" y="4162499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on android is not good, not really optimized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98972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1B4C9-C883-9C51-A997-15751C0FE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75C7BE-4836-E389-D030-6256E838A20E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8A2242-877D-DB87-3B18-0C800AE38714}"/>
              </a:ext>
            </a:extLst>
          </p:cNvPr>
          <p:cNvSpPr/>
          <p:nvPr/>
        </p:nvSpPr>
        <p:spPr>
          <a:xfrm>
            <a:off x="457200" y="2286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vi-VN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67D7AFB-9285-3877-7D22-314308049516}"/>
              </a:ext>
            </a:extLst>
          </p:cNvPr>
          <p:cNvSpPr/>
          <p:nvPr/>
        </p:nvSpPr>
        <p:spPr>
          <a:xfrm>
            <a:off x="445008" y="1874639"/>
            <a:ext cx="4000500" cy="823987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C6AA8CCF-386B-81B8-4796-E418C65166AA}"/>
              </a:ext>
            </a:extLst>
          </p:cNvPr>
          <p:cNvSpPr/>
          <p:nvPr/>
        </p:nvSpPr>
        <p:spPr>
          <a:xfrm>
            <a:off x="464058" y="1874639"/>
            <a:ext cx="6858" cy="82398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C3D633B-ED7A-0F5C-30F3-89D66C43FA34}"/>
              </a:ext>
            </a:extLst>
          </p:cNvPr>
          <p:cNvSpPr/>
          <p:nvPr/>
        </p:nvSpPr>
        <p:spPr>
          <a:xfrm>
            <a:off x="699516" y="2003747"/>
            <a:ext cx="3575304" cy="69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E92305C8-2D63-048A-29CE-331900FAB72A}"/>
              </a:ext>
            </a:extLst>
          </p:cNvPr>
          <p:cNvSpPr/>
          <p:nvPr/>
        </p:nvSpPr>
        <p:spPr>
          <a:xfrm>
            <a:off x="451866" y="3045246"/>
            <a:ext cx="4000500" cy="697111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E2ABEAA0-ACFF-0FCC-3FA7-AC5C4E3FDAAC}"/>
              </a:ext>
            </a:extLst>
          </p:cNvPr>
          <p:cNvSpPr/>
          <p:nvPr/>
        </p:nvSpPr>
        <p:spPr>
          <a:xfrm>
            <a:off x="470916" y="3045246"/>
            <a:ext cx="0" cy="69711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C03A8A0-55BA-09D2-E93C-BE9CD1BF3589}"/>
              </a:ext>
            </a:extLst>
          </p:cNvPr>
          <p:cNvSpPr/>
          <p:nvPr/>
        </p:nvSpPr>
        <p:spPr>
          <a:xfrm>
            <a:off x="718566" y="3153890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35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r>
              <a:rPr lang="vi-VN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8067D76B-497E-A4F3-72DD-1E8C5B4E8633}"/>
              </a:ext>
            </a:extLst>
          </p:cNvPr>
          <p:cNvSpPr/>
          <p:nvPr/>
        </p:nvSpPr>
        <p:spPr>
          <a:xfrm>
            <a:off x="432816" y="1152674"/>
            <a:ext cx="4080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200"/>
              </a:spcAft>
              <a:buNone/>
            </a:pP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r>
              <a:rPr lang="vi-VN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1800" b="1" dirty="0" err="1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endParaRPr lang="en-US" sz="1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BE24C68-762E-2BA9-C607-45044F4EB1D8}"/>
              </a:ext>
            </a:extLst>
          </p:cNvPr>
          <p:cNvSpPr/>
          <p:nvPr/>
        </p:nvSpPr>
        <p:spPr>
          <a:xfrm>
            <a:off x="432816" y="4011512"/>
            <a:ext cx="4000500" cy="469697"/>
          </a:xfrm>
          <a:prstGeom prst="rect">
            <a:avLst/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E35DDE7-976F-BF05-1B45-17D3AF1F4D79}"/>
              </a:ext>
            </a:extLst>
          </p:cNvPr>
          <p:cNvSpPr/>
          <p:nvPr/>
        </p:nvSpPr>
        <p:spPr>
          <a:xfrm>
            <a:off x="451866" y="4011512"/>
            <a:ext cx="0" cy="46969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1249BD8-5548-2690-C43C-7B6FF3747D2E}"/>
              </a:ext>
            </a:extLst>
          </p:cNvPr>
          <p:cNvSpPr/>
          <p:nvPr/>
        </p:nvSpPr>
        <p:spPr>
          <a:xfrm>
            <a:off x="699516" y="4120156"/>
            <a:ext cx="357530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to run better on mobile environment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27011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8594" y="2362200"/>
            <a:ext cx="420681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2400"/>
              </a:spcAft>
              <a:buNone/>
            </a:pPr>
            <a:r>
              <a:rPr lang="vi-VN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</a:t>
            </a:r>
            <a:r>
              <a:rPr lang="vi-VN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r>
              <a:rPr lang="vi-VN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r>
              <a:rPr lang="vi-VN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3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981</Words>
  <Application>Microsoft Office PowerPoint</Application>
  <PresentationFormat>On-screen Show (16:9)</PresentationFormat>
  <Paragraphs>141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Time-Lapse Video Synthesis from a Single Outdoor Image</dc:title>
  <dc:subject>PptxGenJS Presentation</dc:subject>
  <dc:creator>Time-Lapse Video Synthesis</dc:creator>
  <cp:lastModifiedBy>Dao Quang Tung D21CN08</cp:lastModifiedBy>
  <cp:revision>8</cp:revision>
  <dcterms:created xsi:type="dcterms:W3CDTF">2025-10-22T10:17:53Z</dcterms:created>
  <dcterms:modified xsi:type="dcterms:W3CDTF">2025-10-28T05:46:21Z</dcterms:modified>
</cp:coreProperties>
</file>